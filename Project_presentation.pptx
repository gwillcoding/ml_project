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6"/>
  </p:notesMasterIdLst>
  <p:sldIdLst>
    <p:sldId id="271" r:id="rId2"/>
    <p:sldId id="300" r:id="rId3"/>
    <p:sldId id="276" r:id="rId4"/>
    <p:sldId id="313" r:id="rId5"/>
    <p:sldId id="306" r:id="rId6"/>
    <p:sldId id="312" r:id="rId7"/>
    <p:sldId id="308" r:id="rId8"/>
    <p:sldId id="314" r:id="rId9"/>
    <p:sldId id="302" r:id="rId10"/>
    <p:sldId id="311" r:id="rId11"/>
    <p:sldId id="310" r:id="rId12"/>
    <p:sldId id="303" r:id="rId13"/>
    <p:sldId id="278" r:id="rId14"/>
    <p:sldId id="296" r:id="rId15"/>
  </p:sldIdLst>
  <p:sldSz cx="9144000" cy="5143500" type="screen16x9"/>
  <p:notesSz cx="6858000" cy="9144000"/>
  <p:embeddedFontLst>
    <p:embeddedFont>
      <p:font typeface="Assistant" pitchFamily="2" charset="-79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39"/>
    <p:restoredTop sz="94498"/>
  </p:normalViewPr>
  <p:slideViewPr>
    <p:cSldViewPr snapToGrid="0">
      <p:cViewPr varScale="1">
        <p:scale>
          <a:sx n="153" d="100"/>
          <a:sy n="153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60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b56d26471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b56d264711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C5A9E23A-8961-1917-E055-AF8514A0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FD5C637B-D764-C590-6516-0B022FC27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EDF55E03-31C0-6909-1336-6157DD357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0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b56d26471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b56d26471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4E60A300-9B4C-EB8A-3CDC-E3637752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b56d264711_0_5:notes">
            <a:extLst>
              <a:ext uri="{FF2B5EF4-FFF2-40B4-BE49-F238E27FC236}">
                <a16:creationId xmlns:a16="http://schemas.microsoft.com/office/drawing/2014/main" id="{9E42B893-8264-8A1D-1FB0-AD8B4BC3C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b56d264711_0_5:notes">
            <a:extLst>
              <a:ext uri="{FF2B5EF4-FFF2-40B4-BE49-F238E27FC236}">
                <a16:creationId xmlns:a16="http://schemas.microsoft.com/office/drawing/2014/main" id="{A00DBBDA-A0EB-CE69-00A0-D91389256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7149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FA37D7F9-861A-EFDB-9691-51070B92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4ABA1A8B-5195-DB52-FB97-84F393F3E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B3FDF502-745F-A613-029A-19CDC4261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18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16CF2C9B-E300-6AD7-60A6-116AE060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6A6BFE88-C9FE-E986-4221-0D95657AA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6C127C2A-15FF-6A3D-6FF4-F1DF0053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644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E3FC1686-DB1A-6383-2630-456D62C6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9C1DECC4-F988-9CDE-88DF-EAB2684EF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9AE6D016-C0D8-C4AC-2450-CA92FB576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8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1DC65EF7-451A-79D6-1361-D903A016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3FB6211C-FBF3-2CC3-1AF4-45BE9EE14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6B3901D1-C1DB-38C3-DE86-B0E148394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596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4234ACC1-BEC1-67A0-AE09-B3691635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b56d264711_0_5:notes">
            <a:extLst>
              <a:ext uri="{FF2B5EF4-FFF2-40B4-BE49-F238E27FC236}">
                <a16:creationId xmlns:a16="http://schemas.microsoft.com/office/drawing/2014/main" id="{FAD7F913-0F74-9399-7EFB-9FCF990E0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b56d264711_0_5:notes">
            <a:extLst>
              <a:ext uri="{FF2B5EF4-FFF2-40B4-BE49-F238E27FC236}">
                <a16:creationId xmlns:a16="http://schemas.microsoft.com/office/drawing/2014/main" id="{7FBD9791-4971-8EE9-DAEC-923739F66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360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7D4F35FC-6558-2E9D-D971-6B9F8C78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f83f1124d_0_42:notes">
            <a:extLst>
              <a:ext uri="{FF2B5EF4-FFF2-40B4-BE49-F238E27FC236}">
                <a16:creationId xmlns:a16="http://schemas.microsoft.com/office/drawing/2014/main" id="{CE9A5032-B80A-E90D-B065-1BAA1C167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f83f1124d_0_42:notes">
            <a:extLst>
              <a:ext uri="{FF2B5EF4-FFF2-40B4-BE49-F238E27FC236}">
                <a16:creationId xmlns:a16="http://schemas.microsoft.com/office/drawing/2014/main" id="{B67AE73A-12E6-1C8A-B7DE-C78B01271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658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b56d264711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b56d264711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b647448be2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b647448be2_1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5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6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subTitle" idx="1"/>
          </p:nvPr>
        </p:nvSpPr>
        <p:spPr>
          <a:xfrm>
            <a:off x="368850" y="2593317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/>
            <a:r>
              <a:rPr lang="en-US" dirty="0"/>
              <a:t>Using Machine Learning to identify at-risk customers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1EDF27-3845-5302-8675-2AC79DBE1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896160"/>
            <a:ext cx="6089100" cy="1776300"/>
          </a:xfrm>
        </p:spPr>
        <p:txBody>
          <a:bodyPr>
            <a:normAutofit/>
          </a:bodyPr>
          <a:lstStyle/>
          <a:p>
            <a:r>
              <a:rPr lang="en-US" sz="3000" dirty="0"/>
              <a:t>Customer Churn Prediction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611FF-1E2E-523C-8E72-F56D0D69089B}"/>
              </a:ext>
            </a:extLst>
          </p:cNvPr>
          <p:cNvSpPr txBox="1"/>
          <p:nvPr/>
        </p:nvSpPr>
        <p:spPr>
          <a:xfrm>
            <a:off x="368850" y="4061840"/>
            <a:ext cx="2226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Nosayaba Godswill Osayi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F76A89EA-AF3F-0A7A-FD4D-A609B0ED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>
            <a:extLst>
              <a:ext uri="{FF2B5EF4-FFF2-40B4-BE49-F238E27FC236}">
                <a16:creationId xmlns:a16="http://schemas.microsoft.com/office/drawing/2014/main" id="{30A6995F-C3D0-317D-AC35-3BBFD1D149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What inspired you to choose this project?</a:t>
            </a:r>
            <a:endParaRPr b="1"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6" name="Google Shape;446;p42">
            <a:extLst>
              <a:ext uri="{FF2B5EF4-FFF2-40B4-BE49-F238E27FC236}">
                <a16:creationId xmlns:a16="http://schemas.microsoft.com/office/drawing/2014/main" id="{F18AC735-E3FD-1E47-5406-1EFE33D23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just">
              <a:lnSpc>
                <a:spcPct val="150000"/>
              </a:lnSpc>
              <a:spcBef>
                <a:spcPts val="1000"/>
              </a:spcBef>
              <a:buNone/>
            </a:pPr>
            <a:endParaRPr lang="en-US" dirty="0"/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To assess strategies for identifying high risk customers prior to churn.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To implement an end-to-end data science workflow encompassing data cleaning, modeling, and explainability.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Maximize revenue retention by prioritizing early intervention</a:t>
            </a:r>
          </a:p>
          <a:p>
            <a:pPr marL="114300" indent="0">
              <a:spcBef>
                <a:spcPts val="1000"/>
              </a:spcBef>
              <a:buNone/>
            </a:pPr>
            <a:endParaRPr lang="en-US" dirty="0"/>
          </a:p>
        </p:txBody>
      </p:sp>
      <p:sp>
        <p:nvSpPr>
          <p:cNvPr id="447" name="Google Shape;447;p42">
            <a:extLst>
              <a:ext uri="{FF2B5EF4-FFF2-40B4-BE49-F238E27FC236}">
                <a16:creationId xmlns:a16="http://schemas.microsoft.com/office/drawing/2014/main" id="{EBB11109-C8B1-6788-19CC-94A9F4F44C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2" name="Google Shape;438;p41">
            <a:extLst>
              <a:ext uri="{FF2B5EF4-FFF2-40B4-BE49-F238E27FC236}">
                <a16:creationId xmlns:a16="http://schemas.microsoft.com/office/drawing/2014/main" id="{416C415B-88A1-B477-52FA-CEAFD31A6DA6}"/>
              </a:ext>
            </a:extLst>
          </p:cNvPr>
          <p:cNvGrpSpPr/>
          <p:nvPr/>
        </p:nvGrpSpPr>
        <p:grpSpPr>
          <a:xfrm rot="8100353">
            <a:off x="349361" y="4583695"/>
            <a:ext cx="516372" cy="433809"/>
            <a:chOff x="521400" y="3135325"/>
            <a:chExt cx="1067700" cy="867900"/>
          </a:xfrm>
        </p:grpSpPr>
        <p:sp>
          <p:nvSpPr>
            <p:cNvPr id="3" name="Google Shape;439;p41">
              <a:extLst>
                <a:ext uri="{FF2B5EF4-FFF2-40B4-BE49-F238E27FC236}">
                  <a16:creationId xmlns:a16="http://schemas.microsoft.com/office/drawing/2014/main" id="{2ECEFFAF-85D6-8CB6-68DC-DD29CABAB97F}"/>
                </a:ext>
              </a:extLst>
            </p:cNvPr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40;p41">
              <a:extLst>
                <a:ext uri="{FF2B5EF4-FFF2-40B4-BE49-F238E27FC236}">
                  <a16:creationId xmlns:a16="http://schemas.microsoft.com/office/drawing/2014/main" id="{C44EFA18-F861-CA91-5DB5-5B436C3325A7}"/>
                </a:ext>
              </a:extLst>
            </p:cNvPr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451;p42">
            <a:extLst>
              <a:ext uri="{FF2B5EF4-FFF2-40B4-BE49-F238E27FC236}">
                <a16:creationId xmlns:a16="http://schemas.microsoft.com/office/drawing/2014/main" id="{C18799E3-E120-0E81-ACEC-771D9FECF690}"/>
              </a:ext>
            </a:extLst>
          </p:cNvPr>
          <p:cNvGrpSpPr/>
          <p:nvPr/>
        </p:nvGrpSpPr>
        <p:grpSpPr>
          <a:xfrm rot="10800000">
            <a:off x="8237763" y="3950881"/>
            <a:ext cx="522235" cy="592827"/>
            <a:chOff x="4185575" y="3320360"/>
            <a:chExt cx="1104178" cy="1104176"/>
          </a:xfrm>
        </p:grpSpPr>
        <p:sp>
          <p:nvSpPr>
            <p:cNvPr id="6" name="Google Shape;452;p42">
              <a:extLst>
                <a:ext uri="{FF2B5EF4-FFF2-40B4-BE49-F238E27FC236}">
                  <a16:creationId xmlns:a16="http://schemas.microsoft.com/office/drawing/2014/main" id="{3EDB4ECC-4400-0676-3051-089293D30A3C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53;p42">
              <a:extLst>
                <a:ext uri="{FF2B5EF4-FFF2-40B4-BE49-F238E27FC236}">
                  <a16:creationId xmlns:a16="http://schemas.microsoft.com/office/drawing/2014/main" id="{D767E2CB-4C88-2278-F01A-75F78A931BDA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21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What did you do?</a:t>
            </a:r>
            <a:endParaRPr b="1"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33" name="Google Shape;433;p41"/>
          <p:cNvSpPr txBox="1">
            <a:spLocks noGrp="1"/>
          </p:cNvSpPr>
          <p:nvPr>
            <p:ph type="body" idx="1"/>
          </p:nvPr>
        </p:nvSpPr>
        <p:spPr>
          <a:xfrm>
            <a:off x="323726" y="963193"/>
            <a:ext cx="8560695" cy="3936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endParaRPr sz="1400" dirty="0"/>
          </a:p>
        </p:txBody>
      </p:sp>
      <p:sp>
        <p:nvSpPr>
          <p:cNvPr id="434" name="Google Shape;434;p4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435" name="Google Shape;435;p41"/>
          <p:cNvGrpSpPr/>
          <p:nvPr/>
        </p:nvGrpSpPr>
        <p:grpSpPr>
          <a:xfrm rot="2700000">
            <a:off x="7987474" y="4271799"/>
            <a:ext cx="674998" cy="405243"/>
            <a:chOff x="919500" y="1916075"/>
            <a:chExt cx="1067700" cy="867900"/>
          </a:xfrm>
        </p:grpSpPr>
        <p:sp>
          <p:nvSpPr>
            <p:cNvPr id="436" name="Google Shape;436;p41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1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41"/>
          <p:cNvGrpSpPr/>
          <p:nvPr/>
        </p:nvGrpSpPr>
        <p:grpSpPr>
          <a:xfrm rot="8100353">
            <a:off x="349361" y="4583695"/>
            <a:ext cx="516372" cy="433809"/>
            <a:chOff x="521400" y="3135325"/>
            <a:chExt cx="1067700" cy="867900"/>
          </a:xfrm>
        </p:grpSpPr>
        <p:sp>
          <p:nvSpPr>
            <p:cNvPr id="439" name="Google Shape;439;p41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1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6AE117-276F-4685-9A58-7DE95331B5C2}"/>
              </a:ext>
            </a:extLst>
          </p:cNvPr>
          <p:cNvSpPr/>
          <p:nvPr/>
        </p:nvSpPr>
        <p:spPr>
          <a:xfrm>
            <a:off x="354769" y="2379889"/>
            <a:ext cx="1381864" cy="39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Customer Churn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9AAC0-9698-FA86-2CEC-D5A0F65847BF}"/>
              </a:ext>
            </a:extLst>
          </p:cNvPr>
          <p:cNvSpPr/>
          <p:nvPr/>
        </p:nvSpPr>
        <p:spPr>
          <a:xfrm>
            <a:off x="3882071" y="2371724"/>
            <a:ext cx="1381864" cy="39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Feature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BD7B3-7CD8-4DC3-1D4D-037CDC4DB396}"/>
              </a:ext>
            </a:extLst>
          </p:cNvPr>
          <p:cNvSpPr/>
          <p:nvPr/>
        </p:nvSpPr>
        <p:spPr>
          <a:xfrm>
            <a:off x="5651572" y="2371723"/>
            <a:ext cx="1381864" cy="39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Modelling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63EAA-A6D6-1B50-464E-E74768A1AB8A}"/>
              </a:ext>
            </a:extLst>
          </p:cNvPr>
          <p:cNvSpPr/>
          <p:nvPr/>
        </p:nvSpPr>
        <p:spPr>
          <a:xfrm>
            <a:off x="2105823" y="2382776"/>
            <a:ext cx="1381864" cy="39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Cleaning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414EA-9846-73CF-01E4-2DDDBDA9EB04}"/>
              </a:ext>
            </a:extLst>
          </p:cNvPr>
          <p:cNvSpPr/>
          <p:nvPr/>
        </p:nvSpPr>
        <p:spPr>
          <a:xfrm>
            <a:off x="7390030" y="2379889"/>
            <a:ext cx="1381864" cy="391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CA6191-323F-8ADC-4301-3637AC7F1546}"/>
              </a:ext>
            </a:extLst>
          </p:cNvPr>
          <p:cNvCxnSpPr>
            <a:cxnSpLocks/>
          </p:cNvCxnSpPr>
          <p:nvPr/>
        </p:nvCxnSpPr>
        <p:spPr>
          <a:xfrm>
            <a:off x="1736633" y="2578719"/>
            <a:ext cx="356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3F671D-B6F4-CACE-A338-ABEE9AA12D93}"/>
              </a:ext>
            </a:extLst>
          </p:cNvPr>
          <p:cNvCxnSpPr>
            <a:cxnSpLocks/>
          </p:cNvCxnSpPr>
          <p:nvPr/>
        </p:nvCxnSpPr>
        <p:spPr>
          <a:xfrm>
            <a:off x="3500284" y="2575831"/>
            <a:ext cx="356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08029A-7C3F-8C84-519F-1E6402D6EC85}"/>
              </a:ext>
            </a:extLst>
          </p:cNvPr>
          <p:cNvCxnSpPr>
            <a:cxnSpLocks/>
          </p:cNvCxnSpPr>
          <p:nvPr/>
        </p:nvCxnSpPr>
        <p:spPr>
          <a:xfrm>
            <a:off x="5263935" y="2567666"/>
            <a:ext cx="356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46F171-91AF-0B8D-A1E4-6D2DF501072D}"/>
              </a:ext>
            </a:extLst>
          </p:cNvPr>
          <p:cNvCxnSpPr>
            <a:cxnSpLocks/>
          </p:cNvCxnSpPr>
          <p:nvPr/>
        </p:nvCxnSpPr>
        <p:spPr>
          <a:xfrm>
            <a:off x="7033436" y="2567665"/>
            <a:ext cx="356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DDCB67D5-2C00-FA2A-58D5-10C7573D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>
            <a:extLst>
              <a:ext uri="{FF2B5EF4-FFF2-40B4-BE49-F238E27FC236}">
                <a16:creationId xmlns:a16="http://schemas.microsoft.com/office/drawing/2014/main" id="{2B6D6A31-56F9-9F23-B7B8-78977F8AB0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Tools and libraries used</a:t>
            </a:r>
            <a:endParaRPr b="1"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33" name="Google Shape;433;p41">
            <a:extLst>
              <a:ext uri="{FF2B5EF4-FFF2-40B4-BE49-F238E27FC236}">
                <a16:creationId xmlns:a16="http://schemas.microsoft.com/office/drawing/2014/main" id="{5ACFBE8F-615F-6E0A-7599-419C6C8BF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just">
              <a:buNone/>
            </a:pPr>
            <a:r>
              <a:rPr lang="en-US" dirty="0"/>
              <a:t>The following tools and libraries were used in this project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	Data &amp; Modelling          	Visualisation       		Environment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	pandas, </a:t>
            </a:r>
            <a:r>
              <a:rPr lang="en-US" dirty="0" err="1"/>
              <a:t>numpy</a:t>
            </a:r>
            <a:r>
              <a:rPr lang="en-US" dirty="0"/>
              <a:t>             	matplotlib          		</a:t>
            </a:r>
            <a:r>
              <a:rPr lang="en-US" dirty="0" err="1"/>
              <a:t>JupyterLab</a:t>
            </a:r>
            <a:endParaRPr lang="en-US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dirty="0"/>
              <a:t>	scikit-learn, </a:t>
            </a:r>
            <a:r>
              <a:rPr lang="en-US" dirty="0" err="1"/>
              <a:t>xgboost</a:t>
            </a:r>
            <a:r>
              <a:rPr lang="en-US" dirty="0"/>
              <a:t>     	seaborn, </a:t>
            </a:r>
            <a:r>
              <a:rPr lang="en-US" dirty="0" err="1"/>
              <a:t>shap</a:t>
            </a:r>
            <a:r>
              <a:rPr lang="en-US" dirty="0"/>
              <a:t>       		Python 3.13</a:t>
            </a:r>
          </a:p>
        </p:txBody>
      </p:sp>
      <p:sp>
        <p:nvSpPr>
          <p:cNvPr id="434" name="Google Shape;434;p41">
            <a:extLst>
              <a:ext uri="{FF2B5EF4-FFF2-40B4-BE49-F238E27FC236}">
                <a16:creationId xmlns:a16="http://schemas.microsoft.com/office/drawing/2014/main" id="{6CC618BE-E6E7-9065-17ED-1959EE57D7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435" name="Google Shape;435;p41">
            <a:extLst>
              <a:ext uri="{FF2B5EF4-FFF2-40B4-BE49-F238E27FC236}">
                <a16:creationId xmlns:a16="http://schemas.microsoft.com/office/drawing/2014/main" id="{1AEA91F6-951A-CDB7-124C-E33449FE7CA6}"/>
              </a:ext>
            </a:extLst>
          </p:cNvPr>
          <p:cNvGrpSpPr/>
          <p:nvPr/>
        </p:nvGrpSpPr>
        <p:grpSpPr>
          <a:xfrm rot="2700000">
            <a:off x="8244027" y="4346890"/>
            <a:ext cx="846530" cy="501804"/>
            <a:chOff x="919500" y="1916075"/>
            <a:chExt cx="1067700" cy="867900"/>
          </a:xfrm>
        </p:grpSpPr>
        <p:sp>
          <p:nvSpPr>
            <p:cNvPr id="436" name="Google Shape;436;p41">
              <a:extLst>
                <a:ext uri="{FF2B5EF4-FFF2-40B4-BE49-F238E27FC236}">
                  <a16:creationId xmlns:a16="http://schemas.microsoft.com/office/drawing/2014/main" id="{58B94CE5-2813-5792-66D1-4F1241820D66}"/>
                </a:ext>
              </a:extLst>
            </p:cNvPr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1">
              <a:extLst>
                <a:ext uri="{FF2B5EF4-FFF2-40B4-BE49-F238E27FC236}">
                  <a16:creationId xmlns:a16="http://schemas.microsoft.com/office/drawing/2014/main" id="{A1A0D544-770E-138B-7A00-9DF64021FC3A}"/>
                </a:ext>
              </a:extLst>
            </p:cNvPr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41">
            <a:extLst>
              <a:ext uri="{FF2B5EF4-FFF2-40B4-BE49-F238E27FC236}">
                <a16:creationId xmlns:a16="http://schemas.microsoft.com/office/drawing/2014/main" id="{E615F5C5-3E3D-41AE-5ECD-69FA5597CC79}"/>
              </a:ext>
            </a:extLst>
          </p:cNvPr>
          <p:cNvGrpSpPr/>
          <p:nvPr/>
        </p:nvGrpSpPr>
        <p:grpSpPr>
          <a:xfrm rot="8100353">
            <a:off x="349361" y="4583695"/>
            <a:ext cx="516372" cy="433809"/>
            <a:chOff x="521400" y="3135325"/>
            <a:chExt cx="1067700" cy="867900"/>
          </a:xfrm>
        </p:grpSpPr>
        <p:sp>
          <p:nvSpPr>
            <p:cNvPr id="439" name="Google Shape;439;p41">
              <a:extLst>
                <a:ext uri="{FF2B5EF4-FFF2-40B4-BE49-F238E27FC236}">
                  <a16:creationId xmlns:a16="http://schemas.microsoft.com/office/drawing/2014/main" id="{938184C6-7A17-C785-3E8A-1D373DB7D041}"/>
                </a:ext>
              </a:extLst>
            </p:cNvPr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1">
              <a:extLst>
                <a:ext uri="{FF2B5EF4-FFF2-40B4-BE49-F238E27FC236}">
                  <a16:creationId xmlns:a16="http://schemas.microsoft.com/office/drawing/2014/main" id="{C4DB2721-5A28-9545-8656-F0D92CC74AA4}"/>
                </a:ext>
              </a:extLst>
            </p:cNvPr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73514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69A0B292-8F61-FF0A-929B-DAD97EAC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>
            <a:extLst>
              <a:ext uri="{FF2B5EF4-FFF2-40B4-BE49-F238E27FC236}">
                <a16:creationId xmlns:a16="http://schemas.microsoft.com/office/drawing/2014/main" id="{19D39781-F47D-9823-A555-24811015D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Customer profile and churn </a:t>
            </a:r>
            <a:r>
              <a:rPr lang="en-US" sz="2000" dirty="0" err="1"/>
              <a:t>behaviour</a:t>
            </a:r>
            <a:endParaRPr sz="2000" b="1"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7" name="Google Shape;447;p42">
            <a:extLst>
              <a:ext uri="{FF2B5EF4-FFF2-40B4-BE49-F238E27FC236}">
                <a16:creationId xmlns:a16="http://schemas.microsoft.com/office/drawing/2014/main" id="{C44F3246-FF8A-708B-9D80-1F93A594C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8D0E6-B67C-D47D-197A-E638FD929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077913"/>
            <a:ext cx="6426498" cy="18218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8A3F67-8E69-41C4-BE7E-D7232EA1A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597" y="1048972"/>
            <a:ext cx="2247875" cy="1770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432B93-6FC7-0F59-28A4-279EF58A9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28" y="1048972"/>
            <a:ext cx="6613670" cy="177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8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698D-09A2-3639-2628-D0534E58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Relationship between the numeric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2967B-D214-37F0-F6E0-63DDAE2C5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F0461-1E26-9F8E-1067-523EDED6AC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6" r="658"/>
          <a:stretch>
            <a:fillRect/>
          </a:stretch>
        </p:blipFill>
        <p:spPr>
          <a:xfrm>
            <a:off x="1001776" y="1349298"/>
            <a:ext cx="6581043" cy="3097009"/>
          </a:xfrm>
          <a:prstGeom prst="rect">
            <a:avLst/>
          </a:prstGeom>
        </p:spPr>
      </p:pic>
      <p:grpSp>
        <p:nvGrpSpPr>
          <p:cNvPr id="6" name="Google Shape;438;p41">
            <a:extLst>
              <a:ext uri="{FF2B5EF4-FFF2-40B4-BE49-F238E27FC236}">
                <a16:creationId xmlns:a16="http://schemas.microsoft.com/office/drawing/2014/main" id="{3DBD4C97-7BB4-83D6-A665-AB89EF683A4D}"/>
              </a:ext>
            </a:extLst>
          </p:cNvPr>
          <p:cNvGrpSpPr/>
          <p:nvPr/>
        </p:nvGrpSpPr>
        <p:grpSpPr>
          <a:xfrm rot="8100353">
            <a:off x="316841" y="4203434"/>
            <a:ext cx="474828" cy="511970"/>
            <a:chOff x="673800" y="3053202"/>
            <a:chExt cx="948075" cy="873823"/>
          </a:xfrm>
        </p:grpSpPr>
        <p:sp>
          <p:nvSpPr>
            <p:cNvPr id="7" name="Google Shape;439;p41">
              <a:extLst>
                <a:ext uri="{FF2B5EF4-FFF2-40B4-BE49-F238E27FC236}">
                  <a16:creationId xmlns:a16="http://schemas.microsoft.com/office/drawing/2014/main" id="{1B3CC85F-8594-85D2-4F62-B86BF5EB5317}"/>
                </a:ext>
              </a:extLst>
            </p:cNvPr>
            <p:cNvSpPr/>
            <p:nvPr/>
          </p:nvSpPr>
          <p:spPr>
            <a:xfrm>
              <a:off x="706575" y="3053202"/>
              <a:ext cx="915300" cy="791701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440;p41">
              <a:extLst>
                <a:ext uri="{FF2B5EF4-FFF2-40B4-BE49-F238E27FC236}">
                  <a16:creationId xmlns:a16="http://schemas.microsoft.com/office/drawing/2014/main" id="{C2BA447F-873E-EE66-230B-271BC61D2441}"/>
                </a:ext>
              </a:extLst>
            </p:cNvPr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435;p41">
            <a:extLst>
              <a:ext uri="{FF2B5EF4-FFF2-40B4-BE49-F238E27FC236}">
                <a16:creationId xmlns:a16="http://schemas.microsoft.com/office/drawing/2014/main" id="{69E825AD-9EB5-12B5-099E-C3A59461D09E}"/>
              </a:ext>
            </a:extLst>
          </p:cNvPr>
          <p:cNvGrpSpPr/>
          <p:nvPr/>
        </p:nvGrpSpPr>
        <p:grpSpPr>
          <a:xfrm rot="2700000">
            <a:off x="8304594" y="4088595"/>
            <a:ext cx="485529" cy="524937"/>
            <a:chOff x="919500" y="1916075"/>
            <a:chExt cx="1067700" cy="867900"/>
          </a:xfrm>
        </p:grpSpPr>
        <p:sp>
          <p:nvSpPr>
            <p:cNvPr id="10" name="Google Shape;436;p41">
              <a:extLst>
                <a:ext uri="{FF2B5EF4-FFF2-40B4-BE49-F238E27FC236}">
                  <a16:creationId xmlns:a16="http://schemas.microsoft.com/office/drawing/2014/main" id="{8F7B5051-B832-7DBF-6D7D-8CAF3876FD8E}"/>
                </a:ext>
              </a:extLst>
            </p:cNvPr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37;p41">
              <a:extLst>
                <a:ext uri="{FF2B5EF4-FFF2-40B4-BE49-F238E27FC236}">
                  <a16:creationId xmlns:a16="http://schemas.microsoft.com/office/drawing/2014/main" id="{28735C90-3429-9A76-B451-83BE824628A8}"/>
                </a:ext>
              </a:extLst>
            </p:cNvPr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5364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73871374-C271-BEBC-6CC1-B4F121FA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>
            <a:extLst>
              <a:ext uri="{FF2B5EF4-FFF2-40B4-BE49-F238E27FC236}">
                <a16:creationId xmlns:a16="http://schemas.microsoft.com/office/drawing/2014/main" id="{8BCA3CFE-842F-92E9-1133-DD9FF37FB8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513" y="34849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Contract type drives churn</a:t>
            </a:r>
            <a:endParaRPr b="1" dirty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6" name="Google Shape;446;p42">
            <a:extLst>
              <a:ext uri="{FF2B5EF4-FFF2-40B4-BE49-F238E27FC236}">
                <a16:creationId xmlns:a16="http://schemas.microsoft.com/office/drawing/2014/main" id="{BF8CEBDE-9EAB-DA5E-60F3-532C19866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</p:txBody>
      </p:sp>
      <p:sp>
        <p:nvSpPr>
          <p:cNvPr id="447" name="Google Shape;447;p42">
            <a:extLst>
              <a:ext uri="{FF2B5EF4-FFF2-40B4-BE49-F238E27FC236}">
                <a16:creationId xmlns:a16="http://schemas.microsoft.com/office/drawing/2014/main" id="{7488FC89-7619-0AB8-FCB0-8A36AAC443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448" name="Google Shape;448;p42">
            <a:extLst>
              <a:ext uri="{FF2B5EF4-FFF2-40B4-BE49-F238E27FC236}">
                <a16:creationId xmlns:a16="http://schemas.microsoft.com/office/drawing/2014/main" id="{F18B3144-FDAC-22A4-6986-E4C56928FC60}"/>
              </a:ext>
            </a:extLst>
          </p:cNvPr>
          <p:cNvGrpSpPr/>
          <p:nvPr/>
        </p:nvGrpSpPr>
        <p:grpSpPr>
          <a:xfrm>
            <a:off x="31320" y="4656678"/>
            <a:ext cx="410072" cy="410168"/>
            <a:chOff x="3717325" y="2137000"/>
            <a:chExt cx="1104178" cy="1104176"/>
          </a:xfrm>
        </p:grpSpPr>
        <p:sp>
          <p:nvSpPr>
            <p:cNvPr id="449" name="Google Shape;449;p42">
              <a:extLst>
                <a:ext uri="{FF2B5EF4-FFF2-40B4-BE49-F238E27FC236}">
                  <a16:creationId xmlns:a16="http://schemas.microsoft.com/office/drawing/2014/main" id="{6C1D190E-D79F-B868-7024-4B205C429224}"/>
                </a:ext>
              </a:extLst>
            </p:cNvPr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2">
              <a:extLst>
                <a:ext uri="{FF2B5EF4-FFF2-40B4-BE49-F238E27FC236}">
                  <a16:creationId xmlns:a16="http://schemas.microsoft.com/office/drawing/2014/main" id="{622681DA-E87D-899E-8578-67C5D553C798}"/>
                </a:ext>
              </a:extLst>
            </p:cNvPr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42">
            <a:extLst>
              <a:ext uri="{FF2B5EF4-FFF2-40B4-BE49-F238E27FC236}">
                <a16:creationId xmlns:a16="http://schemas.microsoft.com/office/drawing/2014/main" id="{A4647E37-AC47-D90F-E735-D04219C1DDB6}"/>
              </a:ext>
            </a:extLst>
          </p:cNvPr>
          <p:cNvGrpSpPr/>
          <p:nvPr/>
        </p:nvGrpSpPr>
        <p:grpSpPr>
          <a:xfrm rot="10800000">
            <a:off x="8404714" y="4497989"/>
            <a:ext cx="427586" cy="471802"/>
            <a:chOff x="4185575" y="3320360"/>
            <a:chExt cx="1104178" cy="1104176"/>
          </a:xfrm>
        </p:grpSpPr>
        <p:sp>
          <p:nvSpPr>
            <p:cNvPr id="452" name="Google Shape;452;p42">
              <a:extLst>
                <a:ext uri="{FF2B5EF4-FFF2-40B4-BE49-F238E27FC236}">
                  <a16:creationId xmlns:a16="http://schemas.microsoft.com/office/drawing/2014/main" id="{0D4DAB5C-2DB9-111C-3501-3129EDE22AC9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2">
              <a:extLst>
                <a:ext uri="{FF2B5EF4-FFF2-40B4-BE49-F238E27FC236}">
                  <a16:creationId xmlns:a16="http://schemas.microsoft.com/office/drawing/2014/main" id="{F0D53ADC-3F07-B74C-3C50-1104E1A8593C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0251A04-CB98-D117-B2A9-89E7901E4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5" r="1704"/>
          <a:stretch>
            <a:fillRect/>
          </a:stretch>
        </p:blipFill>
        <p:spPr>
          <a:xfrm>
            <a:off x="1258886" y="549686"/>
            <a:ext cx="6328334" cy="40966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D7E55-61B7-DDBE-75E6-34CB7810C7F8}"/>
              </a:ext>
            </a:extLst>
          </p:cNvPr>
          <p:cNvSpPr txBox="1"/>
          <p:nvPr/>
        </p:nvSpPr>
        <p:spPr>
          <a:xfrm>
            <a:off x="684048" y="4674723"/>
            <a:ext cx="410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Monthly customer have the highest churn rate</a:t>
            </a:r>
          </a:p>
        </p:txBody>
      </p:sp>
    </p:spTree>
    <p:extLst>
      <p:ext uri="{BB962C8B-B14F-4D97-AF65-F5344CB8AC3E}">
        <p14:creationId xmlns:p14="http://schemas.microsoft.com/office/powerpoint/2010/main" val="198160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8E5D-9CF3-1DC2-997E-A817D466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3100"/>
            <a:ext cx="81471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Full model comparison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C7132-E05F-7721-FFC6-B27FF150D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990772"/>
            <a:ext cx="6680200" cy="3771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ED3E3-6D52-CDE8-B556-F9F8944C8F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grpSp>
        <p:nvGrpSpPr>
          <p:cNvPr id="6" name="Google Shape;435;p41">
            <a:extLst>
              <a:ext uri="{FF2B5EF4-FFF2-40B4-BE49-F238E27FC236}">
                <a16:creationId xmlns:a16="http://schemas.microsoft.com/office/drawing/2014/main" id="{32C64681-D7DD-1D5A-C22B-B6C51A977023}"/>
              </a:ext>
            </a:extLst>
          </p:cNvPr>
          <p:cNvGrpSpPr/>
          <p:nvPr/>
        </p:nvGrpSpPr>
        <p:grpSpPr>
          <a:xfrm rot="2700000">
            <a:off x="8299315" y="4323284"/>
            <a:ext cx="393597" cy="288061"/>
            <a:chOff x="919500" y="1916075"/>
            <a:chExt cx="1067700" cy="867900"/>
          </a:xfrm>
        </p:grpSpPr>
        <p:sp>
          <p:nvSpPr>
            <p:cNvPr id="7" name="Google Shape;436;p41">
              <a:extLst>
                <a:ext uri="{FF2B5EF4-FFF2-40B4-BE49-F238E27FC236}">
                  <a16:creationId xmlns:a16="http://schemas.microsoft.com/office/drawing/2014/main" id="{1AF355F9-0FE4-B10F-30ED-F6E8777CF9D6}"/>
                </a:ext>
              </a:extLst>
            </p:cNvPr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37;p41">
              <a:extLst>
                <a:ext uri="{FF2B5EF4-FFF2-40B4-BE49-F238E27FC236}">
                  <a16:creationId xmlns:a16="http://schemas.microsoft.com/office/drawing/2014/main" id="{58C1CB2A-1743-096D-D3F0-CF91CC9ED94F}"/>
                </a:ext>
              </a:extLst>
            </p:cNvPr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451;p42">
            <a:extLst>
              <a:ext uri="{FF2B5EF4-FFF2-40B4-BE49-F238E27FC236}">
                <a16:creationId xmlns:a16="http://schemas.microsoft.com/office/drawing/2014/main" id="{D1901897-28A7-68A2-6E04-62A6EC0820CE}"/>
              </a:ext>
            </a:extLst>
          </p:cNvPr>
          <p:cNvGrpSpPr/>
          <p:nvPr/>
        </p:nvGrpSpPr>
        <p:grpSpPr>
          <a:xfrm rot="10800000">
            <a:off x="36907" y="4571342"/>
            <a:ext cx="427586" cy="471802"/>
            <a:chOff x="4185575" y="3320360"/>
            <a:chExt cx="1104178" cy="1104176"/>
          </a:xfrm>
        </p:grpSpPr>
        <p:sp>
          <p:nvSpPr>
            <p:cNvPr id="10" name="Google Shape;452;p42">
              <a:extLst>
                <a:ext uri="{FF2B5EF4-FFF2-40B4-BE49-F238E27FC236}">
                  <a16:creationId xmlns:a16="http://schemas.microsoft.com/office/drawing/2014/main" id="{66B67516-FABB-FC96-C7F5-E8E764894A18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53;p42">
              <a:extLst>
                <a:ext uri="{FF2B5EF4-FFF2-40B4-BE49-F238E27FC236}">
                  <a16:creationId xmlns:a16="http://schemas.microsoft.com/office/drawing/2014/main" id="{8AF5F3BB-72C6-7A8B-7F1F-765C90C088D2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214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6E70F83D-A1B5-7407-C42F-3F19BA5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9E7B78-8CF1-D4F7-3C99-81876512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2000" dirty="0"/>
            </a:br>
            <a:r>
              <a:rPr lang="en-US" sz="2000" dirty="0"/>
              <a:t>Confusion matrices of the top three models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7063A0-1668-E1C1-15DC-00A9D37F2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5" r="1219"/>
          <a:stretch>
            <a:fillRect/>
          </a:stretch>
        </p:blipFill>
        <p:spPr>
          <a:xfrm>
            <a:off x="546442" y="915600"/>
            <a:ext cx="7677615" cy="1943278"/>
          </a:xfrm>
          <a:prstGeom prst="rect">
            <a:avLst/>
          </a:prstGeom>
        </p:spPr>
      </p:pic>
      <p:grpSp>
        <p:nvGrpSpPr>
          <p:cNvPr id="4" name="Google Shape;448;p42">
            <a:extLst>
              <a:ext uri="{FF2B5EF4-FFF2-40B4-BE49-F238E27FC236}">
                <a16:creationId xmlns:a16="http://schemas.microsoft.com/office/drawing/2014/main" id="{C85D75ED-C8D5-71D6-86F5-4CFFF18C3747}"/>
              </a:ext>
            </a:extLst>
          </p:cNvPr>
          <p:cNvGrpSpPr/>
          <p:nvPr/>
        </p:nvGrpSpPr>
        <p:grpSpPr>
          <a:xfrm>
            <a:off x="31320" y="4656678"/>
            <a:ext cx="410072" cy="410168"/>
            <a:chOff x="3717325" y="2137000"/>
            <a:chExt cx="1104178" cy="1104176"/>
          </a:xfrm>
        </p:grpSpPr>
        <p:sp>
          <p:nvSpPr>
            <p:cNvPr id="5" name="Google Shape;449;p42">
              <a:extLst>
                <a:ext uri="{FF2B5EF4-FFF2-40B4-BE49-F238E27FC236}">
                  <a16:creationId xmlns:a16="http://schemas.microsoft.com/office/drawing/2014/main" id="{C8D213FA-D982-4D3B-8039-9C5A77CFCE9C}"/>
                </a:ext>
              </a:extLst>
            </p:cNvPr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50;p42">
              <a:extLst>
                <a:ext uri="{FF2B5EF4-FFF2-40B4-BE49-F238E27FC236}">
                  <a16:creationId xmlns:a16="http://schemas.microsoft.com/office/drawing/2014/main" id="{98B6CF92-079B-76EB-3251-54D25610288C}"/>
                </a:ext>
              </a:extLst>
            </p:cNvPr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451;p42">
            <a:extLst>
              <a:ext uri="{FF2B5EF4-FFF2-40B4-BE49-F238E27FC236}">
                <a16:creationId xmlns:a16="http://schemas.microsoft.com/office/drawing/2014/main" id="{6AE5E81E-B24B-7BC7-25C9-AB40904448B2}"/>
              </a:ext>
            </a:extLst>
          </p:cNvPr>
          <p:cNvGrpSpPr/>
          <p:nvPr/>
        </p:nvGrpSpPr>
        <p:grpSpPr>
          <a:xfrm rot="10800000">
            <a:off x="8458800" y="4557312"/>
            <a:ext cx="427586" cy="471802"/>
            <a:chOff x="4185575" y="3320360"/>
            <a:chExt cx="1104178" cy="1104176"/>
          </a:xfrm>
        </p:grpSpPr>
        <p:sp>
          <p:nvSpPr>
            <p:cNvPr id="9" name="Google Shape;452;p42">
              <a:extLst>
                <a:ext uri="{FF2B5EF4-FFF2-40B4-BE49-F238E27FC236}">
                  <a16:creationId xmlns:a16="http://schemas.microsoft.com/office/drawing/2014/main" id="{245F225A-E938-EC28-C97A-978A8FE22531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53;p42">
              <a:extLst>
                <a:ext uri="{FF2B5EF4-FFF2-40B4-BE49-F238E27FC236}">
                  <a16:creationId xmlns:a16="http://schemas.microsoft.com/office/drawing/2014/main" id="{8CC64425-2DA5-39C1-9288-C55894EA039D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4E41E38-90C1-9228-5B29-18377686B036}"/>
              </a:ext>
            </a:extLst>
          </p:cNvPr>
          <p:cNvSpPr txBox="1"/>
          <p:nvPr/>
        </p:nvSpPr>
        <p:spPr>
          <a:xfrm>
            <a:off x="1371600" y="3646448"/>
            <a:ext cx="555330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	Predicted: No Churn    Predicted: Churn</a:t>
            </a:r>
          </a:p>
          <a:p>
            <a:endParaRPr lang="en-US" dirty="0"/>
          </a:p>
          <a:p>
            <a:r>
              <a:rPr lang="en-US" dirty="0"/>
              <a:t>Actual: No Churn      		  TN                    	FP</a:t>
            </a:r>
          </a:p>
          <a:p>
            <a:endParaRPr lang="en-US" dirty="0"/>
          </a:p>
          <a:p>
            <a:r>
              <a:rPr lang="en-US" dirty="0"/>
              <a:t>Actual: Churn       		  FN                    	TP</a:t>
            </a:r>
          </a:p>
        </p:txBody>
      </p:sp>
    </p:spTree>
    <p:extLst>
      <p:ext uri="{BB962C8B-B14F-4D97-AF65-F5344CB8AC3E}">
        <p14:creationId xmlns:p14="http://schemas.microsoft.com/office/powerpoint/2010/main" val="114135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A7C46DA7-78FD-6408-34B2-0DF18A62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9D350-BB3B-3CA5-D285-B8F1977E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Confusion Matrices of Top 3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35EC7-2E34-396A-C103-BCF852AA9DD1}"/>
              </a:ext>
            </a:extLst>
          </p:cNvPr>
          <p:cNvSpPr txBox="1"/>
          <p:nvPr/>
        </p:nvSpPr>
        <p:spPr>
          <a:xfrm>
            <a:off x="631371" y="1143001"/>
            <a:ext cx="62266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XGBoost</a:t>
            </a:r>
            <a:r>
              <a:rPr lang="en-US" dirty="0"/>
              <a:t> Optimized makes the most correct predictions (5,757)</a:t>
            </a:r>
          </a:p>
          <a:p>
            <a:endParaRPr lang="en-US" dirty="0"/>
          </a:p>
          <a:p>
            <a:r>
              <a:rPr lang="en-US" dirty="0"/>
              <a:t>Gradient Boosting misses the fewest churners (817)</a:t>
            </a:r>
          </a:p>
          <a:p>
            <a:endParaRPr lang="en-US" dirty="0"/>
          </a:p>
          <a:p>
            <a:r>
              <a:rPr lang="en-US" dirty="0"/>
              <a:t>All models struggle with False Positives (~2,400-2,500)</a:t>
            </a:r>
          </a:p>
          <a:p>
            <a:endParaRPr lang="en-US" dirty="0"/>
          </a:p>
          <a:p>
            <a:r>
              <a:rPr lang="en-US" dirty="0"/>
              <a:t>False Negatives are most costly, because the business loses customers that could have been saved.</a:t>
            </a:r>
          </a:p>
        </p:txBody>
      </p:sp>
      <p:grpSp>
        <p:nvGrpSpPr>
          <p:cNvPr id="2" name="Google Shape;451;p42">
            <a:extLst>
              <a:ext uri="{FF2B5EF4-FFF2-40B4-BE49-F238E27FC236}">
                <a16:creationId xmlns:a16="http://schemas.microsoft.com/office/drawing/2014/main" id="{D176D2F1-EEA0-6034-89BF-F7B7CC757C8D}"/>
              </a:ext>
            </a:extLst>
          </p:cNvPr>
          <p:cNvGrpSpPr/>
          <p:nvPr/>
        </p:nvGrpSpPr>
        <p:grpSpPr>
          <a:xfrm rot="10800000">
            <a:off x="203785" y="4564699"/>
            <a:ext cx="427586" cy="471802"/>
            <a:chOff x="4185575" y="3320360"/>
            <a:chExt cx="1104178" cy="1104176"/>
          </a:xfrm>
        </p:grpSpPr>
        <p:sp>
          <p:nvSpPr>
            <p:cNvPr id="5" name="Google Shape;452;p42">
              <a:extLst>
                <a:ext uri="{FF2B5EF4-FFF2-40B4-BE49-F238E27FC236}">
                  <a16:creationId xmlns:a16="http://schemas.microsoft.com/office/drawing/2014/main" id="{5AD37647-041B-FB21-C2D2-EC24F7EC9FCD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53;p42">
              <a:extLst>
                <a:ext uri="{FF2B5EF4-FFF2-40B4-BE49-F238E27FC236}">
                  <a16:creationId xmlns:a16="http://schemas.microsoft.com/office/drawing/2014/main" id="{FBE4F53B-76A7-FB67-268F-40EAB1BF5A25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438;p41">
            <a:extLst>
              <a:ext uri="{FF2B5EF4-FFF2-40B4-BE49-F238E27FC236}">
                <a16:creationId xmlns:a16="http://schemas.microsoft.com/office/drawing/2014/main" id="{EBAE6D97-CB67-AC58-1030-54045E9A926A}"/>
              </a:ext>
            </a:extLst>
          </p:cNvPr>
          <p:cNvGrpSpPr/>
          <p:nvPr/>
        </p:nvGrpSpPr>
        <p:grpSpPr>
          <a:xfrm rot="8100353">
            <a:off x="8588324" y="4388227"/>
            <a:ext cx="474828" cy="511970"/>
            <a:chOff x="673800" y="3053202"/>
            <a:chExt cx="948075" cy="873823"/>
          </a:xfrm>
        </p:grpSpPr>
        <p:sp>
          <p:nvSpPr>
            <p:cNvPr id="8" name="Google Shape;439;p41">
              <a:extLst>
                <a:ext uri="{FF2B5EF4-FFF2-40B4-BE49-F238E27FC236}">
                  <a16:creationId xmlns:a16="http://schemas.microsoft.com/office/drawing/2014/main" id="{5B1ED891-7350-CC21-C33E-0C61425EF92A}"/>
                </a:ext>
              </a:extLst>
            </p:cNvPr>
            <p:cNvSpPr/>
            <p:nvPr/>
          </p:nvSpPr>
          <p:spPr>
            <a:xfrm>
              <a:off x="706575" y="3053202"/>
              <a:ext cx="915300" cy="791701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440;p41">
              <a:extLst>
                <a:ext uri="{FF2B5EF4-FFF2-40B4-BE49-F238E27FC236}">
                  <a16:creationId xmlns:a16="http://schemas.microsoft.com/office/drawing/2014/main" id="{6846E118-5BCE-C352-E1ED-E834B165A878}"/>
                </a:ext>
              </a:extLst>
            </p:cNvPr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2682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B63BA3B3-D2B3-F1DE-80A0-A2A2AA1B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A6F167-F215-1132-E6F4-928DF725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72" y="178228"/>
            <a:ext cx="8147100" cy="572700"/>
          </a:xfrm>
        </p:spPr>
        <p:txBody>
          <a:bodyPr>
            <a:normAutofit/>
          </a:bodyPr>
          <a:lstStyle/>
          <a:p>
            <a:r>
              <a:rPr lang="en-US" sz="2000" dirty="0"/>
              <a:t>ROC curves  of top three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BADBF-FD18-7442-8C3E-AB910C09E42D}"/>
              </a:ext>
            </a:extLst>
          </p:cNvPr>
          <p:cNvSpPr txBox="1"/>
          <p:nvPr/>
        </p:nvSpPr>
        <p:spPr>
          <a:xfrm>
            <a:off x="685200" y="704115"/>
            <a:ext cx="74799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three models perform similarly, with </a:t>
            </a:r>
            <a:r>
              <a:rPr lang="en-US" dirty="0" err="1"/>
              <a:t>XGBoost</a:t>
            </a:r>
            <a:r>
              <a:rPr lang="en-US" dirty="0"/>
              <a:t> optimized showing a marginal advantage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E30C6-E284-4DC5-194D-2141BA1F4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114" y="1158956"/>
            <a:ext cx="5403430" cy="3984544"/>
          </a:xfrm>
          <a:prstGeom prst="rect">
            <a:avLst/>
          </a:prstGeom>
        </p:spPr>
      </p:pic>
      <p:grpSp>
        <p:nvGrpSpPr>
          <p:cNvPr id="2" name="Google Shape;451;p42">
            <a:extLst>
              <a:ext uri="{FF2B5EF4-FFF2-40B4-BE49-F238E27FC236}">
                <a16:creationId xmlns:a16="http://schemas.microsoft.com/office/drawing/2014/main" id="{DDCD0E84-6BA0-968A-305C-2659ACBA4B20}"/>
              </a:ext>
            </a:extLst>
          </p:cNvPr>
          <p:cNvGrpSpPr/>
          <p:nvPr/>
        </p:nvGrpSpPr>
        <p:grpSpPr>
          <a:xfrm rot="10800000">
            <a:off x="133111" y="4669970"/>
            <a:ext cx="389403" cy="473529"/>
            <a:chOff x="4185575" y="3320360"/>
            <a:chExt cx="1104178" cy="1104176"/>
          </a:xfrm>
        </p:grpSpPr>
        <p:sp>
          <p:nvSpPr>
            <p:cNvPr id="4" name="Google Shape;452;p42">
              <a:extLst>
                <a:ext uri="{FF2B5EF4-FFF2-40B4-BE49-F238E27FC236}">
                  <a16:creationId xmlns:a16="http://schemas.microsoft.com/office/drawing/2014/main" id="{E6E54789-CF85-F1D7-A1B8-4D2F80FC85D5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53;p42">
              <a:extLst>
                <a:ext uri="{FF2B5EF4-FFF2-40B4-BE49-F238E27FC236}">
                  <a16:creationId xmlns:a16="http://schemas.microsoft.com/office/drawing/2014/main" id="{7A9D21FD-3D8E-1C4B-E965-E1AAD03C43AE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16626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>
          <a:extLst>
            <a:ext uri="{FF2B5EF4-FFF2-40B4-BE49-F238E27FC236}">
              <a16:creationId xmlns:a16="http://schemas.microsoft.com/office/drawing/2014/main" id="{C7153C41-7150-A537-BB68-04DB5844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>
            <a:extLst>
              <a:ext uri="{FF2B5EF4-FFF2-40B4-BE49-F238E27FC236}">
                <a16:creationId xmlns:a16="http://schemas.microsoft.com/office/drawing/2014/main" id="{B41E6E7A-9566-3C0D-C103-846471987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446" name="Google Shape;446;p42">
            <a:extLst>
              <a:ext uri="{FF2B5EF4-FFF2-40B4-BE49-F238E27FC236}">
                <a16:creationId xmlns:a16="http://schemas.microsoft.com/office/drawing/2014/main" id="{4973AAC9-9E1C-47C7-8E66-F44663554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spcBef>
                <a:spcPts val="1000"/>
              </a:spcBef>
              <a:buNone/>
            </a:pP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>Data quality is the foundation — 35 % of effort was cleaning alone </a:t>
            </a:r>
          </a:p>
          <a:p>
            <a:pPr>
              <a:spcBef>
                <a:spcPts val="1000"/>
              </a:spcBef>
            </a:pPr>
            <a:r>
              <a:rPr lang="en-US" dirty="0"/>
              <a:t>Contract type and tenure are the strongest churn signals</a:t>
            </a:r>
          </a:p>
          <a:p>
            <a:pPr>
              <a:spcBef>
                <a:spcPts val="1000"/>
              </a:spcBef>
            </a:pPr>
            <a:r>
              <a:rPr lang="en-US" dirty="0"/>
              <a:t>No single model dominates </a:t>
            </a:r>
          </a:p>
          <a:p>
            <a:pPr>
              <a:spcBef>
                <a:spcPts val="1000"/>
              </a:spcBef>
            </a:pPr>
            <a:r>
              <a:rPr lang="en-US" dirty="0" err="1"/>
              <a:t>XGBoost</a:t>
            </a:r>
            <a:r>
              <a:rPr lang="en-US" dirty="0"/>
              <a:t> wins on AUC, Logistic Regression wins on recall</a:t>
            </a:r>
          </a:p>
          <a:p>
            <a:pPr>
              <a:spcBef>
                <a:spcPts val="1000"/>
              </a:spcBef>
            </a:pPr>
            <a:r>
              <a:rPr lang="en-US" dirty="0"/>
              <a:t>Problem-solving and critical thinking</a:t>
            </a:r>
          </a:p>
          <a:p>
            <a:pPr marL="114300" indent="0">
              <a:spcBef>
                <a:spcPts val="1000"/>
              </a:spcBef>
              <a:buNone/>
            </a:pPr>
            <a:endParaRPr lang="en-US" dirty="0"/>
          </a:p>
        </p:txBody>
      </p:sp>
      <p:sp>
        <p:nvSpPr>
          <p:cNvPr id="447" name="Google Shape;447;p42">
            <a:extLst>
              <a:ext uri="{FF2B5EF4-FFF2-40B4-BE49-F238E27FC236}">
                <a16:creationId xmlns:a16="http://schemas.microsoft.com/office/drawing/2014/main" id="{D4940B06-9554-0D6F-ACD3-F4F34C081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448" name="Google Shape;448;p42">
            <a:extLst>
              <a:ext uri="{FF2B5EF4-FFF2-40B4-BE49-F238E27FC236}">
                <a16:creationId xmlns:a16="http://schemas.microsoft.com/office/drawing/2014/main" id="{B9A39304-2434-C4C9-918E-C940322F5D0E}"/>
              </a:ext>
            </a:extLst>
          </p:cNvPr>
          <p:cNvGrpSpPr/>
          <p:nvPr/>
        </p:nvGrpSpPr>
        <p:grpSpPr>
          <a:xfrm>
            <a:off x="-47557" y="4570800"/>
            <a:ext cx="544862" cy="572700"/>
            <a:chOff x="3717325" y="2137000"/>
            <a:chExt cx="1104178" cy="1104176"/>
          </a:xfrm>
        </p:grpSpPr>
        <p:sp>
          <p:nvSpPr>
            <p:cNvPr id="449" name="Google Shape;449;p42">
              <a:extLst>
                <a:ext uri="{FF2B5EF4-FFF2-40B4-BE49-F238E27FC236}">
                  <a16:creationId xmlns:a16="http://schemas.microsoft.com/office/drawing/2014/main" id="{6580E1BA-68B6-FE22-1342-54E4694B22EC}"/>
                </a:ext>
              </a:extLst>
            </p:cNvPr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2">
              <a:extLst>
                <a:ext uri="{FF2B5EF4-FFF2-40B4-BE49-F238E27FC236}">
                  <a16:creationId xmlns:a16="http://schemas.microsoft.com/office/drawing/2014/main" id="{EF79EA75-5CBA-818A-D991-B9F84D711BCD}"/>
                </a:ext>
              </a:extLst>
            </p:cNvPr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42">
            <a:extLst>
              <a:ext uri="{FF2B5EF4-FFF2-40B4-BE49-F238E27FC236}">
                <a16:creationId xmlns:a16="http://schemas.microsoft.com/office/drawing/2014/main" id="{E7153FCD-03FF-EE5E-26AE-4DD8B49386F4}"/>
              </a:ext>
            </a:extLst>
          </p:cNvPr>
          <p:cNvGrpSpPr/>
          <p:nvPr/>
        </p:nvGrpSpPr>
        <p:grpSpPr>
          <a:xfrm rot="10800000">
            <a:off x="7961970" y="3345366"/>
            <a:ext cx="870329" cy="979554"/>
            <a:chOff x="4185575" y="3320360"/>
            <a:chExt cx="1104178" cy="1104176"/>
          </a:xfrm>
        </p:grpSpPr>
        <p:sp>
          <p:nvSpPr>
            <p:cNvPr id="452" name="Google Shape;452;p42">
              <a:extLst>
                <a:ext uri="{FF2B5EF4-FFF2-40B4-BE49-F238E27FC236}">
                  <a16:creationId xmlns:a16="http://schemas.microsoft.com/office/drawing/2014/main" id="{045E8D53-0691-A79E-E552-737D825C5C23}"/>
                </a:ext>
              </a:extLst>
            </p:cNvPr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453;p42">
              <a:extLst>
                <a:ext uri="{FF2B5EF4-FFF2-40B4-BE49-F238E27FC236}">
                  <a16:creationId xmlns:a16="http://schemas.microsoft.com/office/drawing/2014/main" id="{058D7BF6-6014-62E2-0738-F60868E0A384}"/>
                </a:ext>
              </a:extLst>
            </p:cNvPr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0410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Next steps</a:t>
            </a:r>
            <a:endParaRPr dirty="0"/>
          </a:p>
        </p:txBody>
      </p:sp>
      <p:sp>
        <p:nvSpPr>
          <p:cNvPr id="459" name="Google Shape;459;p43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spcBef>
                <a:spcPts val="1000"/>
              </a:spcBef>
              <a:buNone/>
            </a:pPr>
            <a:r>
              <a:rPr lang="en-US" dirty="0"/>
              <a:t>Deploy model via API to identify at-risk customers in real time</a:t>
            </a:r>
          </a:p>
          <a:p>
            <a:pPr marL="114300" indent="0">
              <a:spcBef>
                <a:spcPts val="1000"/>
              </a:spcBef>
              <a:buNone/>
            </a:pPr>
            <a:r>
              <a:rPr lang="en-US" dirty="0"/>
              <a:t>A/B test retention offers on model-flagged high-risk customers</a:t>
            </a:r>
          </a:p>
          <a:p>
            <a:pPr marL="114300" indent="0">
              <a:spcBef>
                <a:spcPts val="1000"/>
              </a:spcBef>
              <a:buNone/>
            </a:pPr>
            <a:r>
              <a:rPr lang="en-US" dirty="0"/>
              <a:t>Monitor model drift monthly as customer </a:t>
            </a:r>
            <a:r>
              <a:rPr lang="en-US" dirty="0" err="1"/>
              <a:t>behaviour</a:t>
            </a:r>
            <a:r>
              <a:rPr lang="en-US" dirty="0"/>
              <a:t> shifts</a:t>
            </a:r>
          </a:p>
          <a:p>
            <a:pPr marL="114300" indent="0">
              <a:spcBef>
                <a:spcPts val="1000"/>
              </a:spcBef>
              <a:buNone/>
            </a:pPr>
            <a:r>
              <a:rPr lang="en-US" dirty="0"/>
              <a:t>Expand to multi-class prediction (why customers churn, not just if)</a:t>
            </a:r>
          </a:p>
        </p:txBody>
      </p:sp>
      <p:sp>
        <p:nvSpPr>
          <p:cNvPr id="460" name="Google Shape;460;p4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461" name="Google Shape;461;p43"/>
          <p:cNvGrpSpPr/>
          <p:nvPr/>
        </p:nvGrpSpPr>
        <p:grpSpPr>
          <a:xfrm rot="2699785">
            <a:off x="482122" y="4029609"/>
            <a:ext cx="1208946" cy="982653"/>
            <a:chOff x="2318413" y="2452450"/>
            <a:chExt cx="1067700" cy="867900"/>
          </a:xfrm>
        </p:grpSpPr>
        <p:sp>
          <p:nvSpPr>
            <p:cNvPr id="462" name="Google Shape;462;p43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3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4" name="Google Shape;4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3238" y="3298021"/>
            <a:ext cx="1084950" cy="113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656" name="Google Shape;656;p6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5850</TotalTime>
  <Words>346</Words>
  <Application>Microsoft Macintosh PowerPoint</Application>
  <PresentationFormat>On-screen Show (16:9)</PresentationFormat>
  <Paragraphs>65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Assistant</vt:lpstr>
      <vt:lpstr>Arial</vt:lpstr>
      <vt:lpstr>Simple Light</vt:lpstr>
      <vt:lpstr>Customer Churn Prediction </vt:lpstr>
      <vt:lpstr>What inspired you to choose this project?</vt:lpstr>
      <vt:lpstr>What did you do?</vt:lpstr>
      <vt:lpstr>Tools and libraries used</vt:lpstr>
      <vt:lpstr>Customer profile and churn behaviour</vt:lpstr>
      <vt:lpstr>Relationship between the numeric variable</vt:lpstr>
      <vt:lpstr>Contract type drives churn</vt:lpstr>
      <vt:lpstr>Full model comparison </vt:lpstr>
      <vt:lpstr> Confusion matrices of the top three models  </vt:lpstr>
      <vt:lpstr>Confusion Matrices of Top 3 Models</vt:lpstr>
      <vt:lpstr>ROC curves  of top three models</vt:lpstr>
      <vt:lpstr>Key Takeaways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Nosayaba Godswill Osayi</cp:lastModifiedBy>
  <cp:revision>25</cp:revision>
  <dcterms:modified xsi:type="dcterms:W3CDTF">2026-06-01T20:19:01Z</dcterms:modified>
</cp:coreProperties>
</file>