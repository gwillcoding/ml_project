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</p:sldMasterIdLst>
  <p:notesMasterIdLst>
    <p:notesMasterId r:id="rId17"/>
  </p:notesMasterIdLst>
  <p:sldIdLst>
    <p:sldId id="271" r:id="rId2"/>
    <p:sldId id="273" r:id="rId3"/>
    <p:sldId id="300" r:id="rId4"/>
    <p:sldId id="298" r:id="rId5"/>
    <p:sldId id="276" r:id="rId6"/>
    <p:sldId id="306" r:id="rId7"/>
    <p:sldId id="308" r:id="rId8"/>
    <p:sldId id="302" r:id="rId9"/>
    <p:sldId id="311" r:id="rId10"/>
    <p:sldId id="310" r:id="rId11"/>
    <p:sldId id="297" r:id="rId12"/>
    <p:sldId id="303" r:id="rId13"/>
    <p:sldId id="305" r:id="rId14"/>
    <p:sldId id="278" r:id="rId15"/>
    <p:sldId id="296" r:id="rId16"/>
  </p:sldIdLst>
  <p:sldSz cx="9144000" cy="5143500" type="screen16x9"/>
  <p:notesSz cx="6858000" cy="9144000"/>
  <p:embeddedFontLst>
    <p:embeddedFont>
      <p:font typeface="Assistant" pitchFamily="2" charset="-79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82"/>
    <p:restoredTop sz="94521"/>
  </p:normalViewPr>
  <p:slideViewPr>
    <p:cSldViewPr snapToGrid="0">
      <p:cViewPr varScale="1">
        <p:scale>
          <a:sx n="117" d="100"/>
          <a:sy n="117" d="100"/>
        </p:scale>
        <p:origin x="176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5" d="100"/>
          <a:sy n="95" d="100"/>
        </p:scale>
        <p:origin x="3600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b56d264711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b56d264711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b56d26471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b56d26471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C5A9E23A-8961-1917-E055-AF8514A0D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FD5C637B-D764-C590-6516-0B022FC27B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EDF55E03-31C0-6909-1336-6157DD3574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1072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>
          <a:extLst>
            <a:ext uri="{FF2B5EF4-FFF2-40B4-BE49-F238E27FC236}">
              <a16:creationId xmlns:a16="http://schemas.microsoft.com/office/drawing/2014/main" id="{A0D081F3-F898-E420-C369-A860D1566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b647448be2_1_153:notes">
            <a:extLst>
              <a:ext uri="{FF2B5EF4-FFF2-40B4-BE49-F238E27FC236}">
                <a16:creationId xmlns:a16="http://schemas.microsoft.com/office/drawing/2014/main" id="{78667555-4E5C-CFE7-3D50-FB7A7E39B5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b647448be2_1_153:notes">
            <a:extLst>
              <a:ext uri="{FF2B5EF4-FFF2-40B4-BE49-F238E27FC236}">
                <a16:creationId xmlns:a16="http://schemas.microsoft.com/office/drawing/2014/main" id="{577445B1-E0DE-57FD-316C-AD811FE5D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990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FA37D7F9-861A-EFDB-9691-51070B92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4ABA1A8B-5195-DB52-FB97-84F393F3E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B3FDF502-745F-A613-029A-19CDC4261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71831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16CF2C9B-E300-6AD7-60A6-116AE0602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6A6BFE88-C9FE-E986-4221-0D95657AA8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6C127C2A-15FF-6A3D-6FF4-F1DF00537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2644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E3FC1686-DB1A-6383-2630-456D62C68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9C1DECC4-F988-9CDE-88DF-EAB2684EF2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9AE6D016-C0D8-C4AC-2450-CA92FB576A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988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1DC65EF7-451A-79D6-1361-D903A016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3FB6211C-FBF3-2CC3-1AF4-45BE9EE149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6B3901D1-C1DB-38C3-DE86-B0E1483941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45965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4234ACC1-BEC1-67A0-AE09-B36916355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FAD7F913-0F74-9399-7EFB-9FCF990E0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7FBD9791-4971-8EE9-DAEC-923739F66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23607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>
          <a:extLst>
            <a:ext uri="{FF2B5EF4-FFF2-40B4-BE49-F238E27FC236}">
              <a16:creationId xmlns:a16="http://schemas.microsoft.com/office/drawing/2014/main" id="{B02885E6-0723-199B-3A31-C72413371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b647448be2_1_153:notes">
            <a:extLst>
              <a:ext uri="{FF2B5EF4-FFF2-40B4-BE49-F238E27FC236}">
                <a16:creationId xmlns:a16="http://schemas.microsoft.com/office/drawing/2014/main" id="{BFFD5599-5816-4B3B-4671-8962590F88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b647448be2_1_153:notes">
            <a:extLst>
              <a:ext uri="{FF2B5EF4-FFF2-40B4-BE49-F238E27FC236}">
                <a16:creationId xmlns:a16="http://schemas.microsoft.com/office/drawing/2014/main" id="{B0ED2550-91A1-2DE0-2A6B-524585BCF6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03906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7D4F35FC-6558-2E9D-D971-6B9F8C78A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CE9A5032-B80A-E90D-B065-1BAA1C167A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B67AE73A-12E6-1C8A-B7DE-C78B01271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6585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>
          <a:extLst>
            <a:ext uri="{FF2B5EF4-FFF2-40B4-BE49-F238E27FC236}">
              <a16:creationId xmlns:a16="http://schemas.microsoft.com/office/drawing/2014/main" id="{61275758-797E-7E03-CF36-3BB684EEB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b647448be2_1_153:notes">
            <a:extLst>
              <a:ext uri="{FF2B5EF4-FFF2-40B4-BE49-F238E27FC236}">
                <a16:creationId xmlns:a16="http://schemas.microsoft.com/office/drawing/2014/main" id="{5D65FA3A-0F82-06D1-CA70-A23A2FF74B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b647448be2_1_153:notes">
            <a:extLst>
              <a:ext uri="{FF2B5EF4-FFF2-40B4-BE49-F238E27FC236}">
                <a16:creationId xmlns:a16="http://schemas.microsoft.com/office/drawing/2014/main" id="{55FFD413-0BB7-B194-3815-84D6CA96B2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7825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b56d264711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b56d264711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b647448be2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b647448be2_1_4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0" y="1239060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3015350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311726" y="342910"/>
            <a:ext cx="2560425" cy="520904"/>
            <a:chOff x="311726" y="342910"/>
            <a:chExt cx="2560425" cy="520904"/>
          </a:xfrm>
        </p:grpSpPr>
        <p:sp>
          <p:nvSpPr>
            <p:cNvPr id="17" name="Google Shape;17;p2"/>
            <p:cNvSpPr/>
            <p:nvPr/>
          </p:nvSpPr>
          <p:spPr>
            <a:xfrm>
              <a:off x="311726" y="342910"/>
              <a:ext cx="2560425" cy="520904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8" name="Google Shape;18;p2"/>
            <p:cNvPicPr preferRelativeResize="0"/>
            <p:nvPr/>
          </p:nvPicPr>
          <p:blipFill rotWithShape="1">
            <a:blip r:embed="rId2">
              <a:alphaModFix/>
            </a:blip>
            <a:srcRect l="377" r="387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7000" y="-7000"/>
            <a:ext cx="9144000" cy="25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893140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7000" y="4798125"/>
            <a:ext cx="9144000" cy="35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5" name="Google Shape;25;p2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 type="secHead">
  <p:cSld name="SECTION_HEADER">
    <p:bg>
      <p:bgPr>
        <a:noFill/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4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type="tx">
  <p:cSld name="TITLE_AND_BOD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00" name="Google Shape;100;p15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101" name="Google Shape;101;p15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" name="Google Shape;103;p15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104" name="Google Shape;104;p15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9" name="Google Shape;9;p1"/>
          <p:cNvGrpSpPr/>
          <p:nvPr/>
        </p:nvGrpSpPr>
        <p:grpSpPr>
          <a:xfrm>
            <a:off x="8458848" y="343116"/>
            <a:ext cx="381224" cy="576102"/>
            <a:chOff x="8458848" y="343116"/>
            <a:chExt cx="381224" cy="576102"/>
          </a:xfrm>
        </p:grpSpPr>
        <p:sp>
          <p:nvSpPr>
            <p:cNvPr id="10" name="Google Shape;10;p1"/>
            <p:cNvSpPr/>
            <p:nvPr/>
          </p:nvSpPr>
          <p:spPr>
            <a:xfrm>
              <a:off x="8458848" y="343116"/>
              <a:ext cx="381224" cy="57610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" name="Google Shape;11;p1"/>
            <p:cNvPicPr preferRelativeResize="0"/>
            <p:nvPr/>
          </p:nvPicPr>
          <p:blipFill rotWithShape="1">
            <a:blip r:embed="rId6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3" r:id="rId3"/>
    <p:sldLayoutId id="2147483661" r:id="rId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6"/>
          <p:cNvSpPr txBox="1">
            <a:spLocks noGrp="1"/>
          </p:cNvSpPr>
          <p:nvPr>
            <p:ph type="ctrTitle"/>
          </p:nvPr>
        </p:nvSpPr>
        <p:spPr>
          <a:xfrm>
            <a:off x="311700" y="1239060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Machine Learning project presentation</a:t>
            </a:r>
            <a:endParaRPr dirty="0"/>
          </a:p>
        </p:txBody>
      </p:sp>
      <p:sp>
        <p:nvSpPr>
          <p:cNvPr id="398" name="Google Shape;398;p36"/>
          <p:cNvSpPr txBox="1">
            <a:spLocks noGrp="1"/>
          </p:cNvSpPr>
          <p:nvPr>
            <p:ph type="subTitle" idx="1"/>
          </p:nvPr>
        </p:nvSpPr>
        <p:spPr>
          <a:xfrm>
            <a:off x="311700" y="3015350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/>
            <a:r>
              <a:rPr lang="en-US" dirty="0"/>
              <a:t>Customer Churn Prediction</a:t>
            </a:r>
            <a:endParaRPr dirty="0"/>
          </a:p>
        </p:txBody>
      </p:sp>
      <p:sp>
        <p:nvSpPr>
          <p:cNvPr id="399" name="Google Shape;399;p36"/>
          <p:cNvSpPr txBox="1"/>
          <p:nvPr/>
        </p:nvSpPr>
        <p:spPr>
          <a:xfrm>
            <a:off x="311700" y="4099375"/>
            <a:ext cx="2953800" cy="5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 dirty="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rPr>
              <a:t>Nosayaba Godswill Osayi</a:t>
            </a:r>
            <a:endParaRPr sz="1000" b="1" dirty="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endParaRPr sz="1000" b="1" dirty="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8"/>
          <p:cNvSpPr txBox="1">
            <a:spLocks noGrp="1"/>
          </p:cNvSpPr>
          <p:nvPr>
            <p:ph type="title"/>
          </p:nvPr>
        </p:nvSpPr>
        <p:spPr>
          <a:xfrm>
            <a:off x="311700" y="2014925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en-US" dirty="0"/>
              <a:t>What inspired you to choose this project?</a:t>
            </a:r>
          </a:p>
        </p:txBody>
      </p:sp>
      <p:sp>
        <p:nvSpPr>
          <p:cNvPr id="413" name="Google Shape;413;p38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F76A89EA-AF3F-0A7A-FD4D-A609B0ED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30A6995F-C3D0-317D-AC35-3BBFD1D149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Reasons why </a:t>
            </a:r>
            <a:r>
              <a:rPr lang="en-US" dirty="0"/>
              <a:t>I</a:t>
            </a:r>
            <a:r>
              <a:rPr lang="en" dirty="0"/>
              <a:t> choose this topic 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F18AC735-E3FD-1E47-5406-1EFE33D233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>
              <a:spcBef>
                <a:spcPts val="1000"/>
              </a:spcBef>
              <a:buNone/>
            </a:pPr>
            <a:endParaRPr lang="en-US" dirty="0"/>
          </a:p>
          <a:p>
            <a:pPr>
              <a:spcBef>
                <a:spcPts val="1000"/>
              </a:spcBef>
            </a:pPr>
            <a:r>
              <a:rPr lang="en-US" dirty="0"/>
              <a:t>I chose this topic because customer churn is a high impact business problem that allows demonstration of a complete data science workflow</a:t>
            </a:r>
          </a:p>
          <a:p>
            <a:pPr>
              <a:spcBef>
                <a:spcPts val="1000"/>
              </a:spcBef>
            </a:pPr>
            <a:r>
              <a:rPr lang="en-US" dirty="0"/>
              <a:t>To explore strategies to detect high-risk churners before they leave.. </a:t>
            </a:r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EBB11109-C8B1-6788-19CC-94A9F4F44C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216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>
          <a:extLst>
            <a:ext uri="{FF2B5EF4-FFF2-40B4-BE49-F238E27FC236}">
              <a16:creationId xmlns:a16="http://schemas.microsoft.com/office/drawing/2014/main" id="{E7D9CED1-729D-941B-DE99-C93BE886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5">
            <a:extLst>
              <a:ext uri="{FF2B5EF4-FFF2-40B4-BE49-F238E27FC236}">
                <a16:creationId xmlns:a16="http://schemas.microsoft.com/office/drawing/2014/main" id="{495E817E-0248-98EA-A257-3804368C31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dirty="0"/>
              <a:t>What did you do?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92" name="Google Shape;392;p35">
            <a:extLst>
              <a:ext uri="{FF2B5EF4-FFF2-40B4-BE49-F238E27FC236}">
                <a16:creationId xmlns:a16="http://schemas.microsoft.com/office/drawing/2014/main" id="{B269E638-B034-373D-44BE-973D20B5204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0309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Development tools and libraries 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indent="0">
              <a:buNone/>
            </a:pPr>
            <a:r>
              <a:rPr lang="en-US" sz="1400" dirty="0"/>
              <a:t>The following tools and libraries were used in this project</a:t>
            </a:r>
          </a:p>
          <a:p>
            <a:pPr marL="0" indent="0">
              <a:buNone/>
            </a:pPr>
            <a:endParaRPr lang="en-US" sz="1400" dirty="0"/>
          </a:p>
          <a:p>
            <a:pPr lvl="0">
              <a:spcBef>
                <a:spcPts val="600"/>
              </a:spcBef>
            </a:pPr>
            <a:r>
              <a:rPr lang="en-US" sz="1400" dirty="0"/>
              <a:t>Python 3.13.1</a:t>
            </a:r>
          </a:p>
          <a:p>
            <a:pPr lvl="0">
              <a:spcBef>
                <a:spcPts val="600"/>
              </a:spcBef>
            </a:pPr>
            <a:r>
              <a:rPr lang="en-US" sz="1400" dirty="0" err="1"/>
              <a:t>Xgboost</a:t>
            </a:r>
            <a:endParaRPr lang="en-US" sz="1400" dirty="0"/>
          </a:p>
          <a:p>
            <a:pPr lvl="0">
              <a:spcBef>
                <a:spcPts val="600"/>
              </a:spcBef>
            </a:pPr>
            <a:r>
              <a:rPr lang="en-US" sz="1400" dirty="0" err="1"/>
              <a:t>shap</a:t>
            </a:r>
            <a:r>
              <a:rPr lang="en-US" sz="1400" dirty="0"/>
              <a:t> </a:t>
            </a:r>
          </a:p>
          <a:p>
            <a:pPr lvl="0">
              <a:spcBef>
                <a:spcPts val="600"/>
              </a:spcBef>
            </a:pPr>
            <a:r>
              <a:rPr lang="en-US" sz="1400" dirty="0" err="1"/>
              <a:t>JupyterLab</a:t>
            </a:r>
            <a:endParaRPr lang="en-US" sz="1400" dirty="0"/>
          </a:p>
          <a:p>
            <a:pPr lvl="0">
              <a:spcBef>
                <a:spcPts val="600"/>
              </a:spcBef>
            </a:pPr>
            <a:r>
              <a:rPr lang="en" sz="1400" dirty="0"/>
              <a:t>CSV </a:t>
            </a:r>
            <a:r>
              <a:rPr lang="en-US" sz="1400" dirty="0"/>
              <a:t>Module </a:t>
            </a:r>
          </a:p>
          <a:p>
            <a:pPr lvl="0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scikit-learn</a:t>
            </a:r>
            <a:endParaRPr sz="1400" dirty="0"/>
          </a:p>
          <a:p>
            <a:pPr marL="457200" lvl="0" indent="-342900" algn="l" rtl="0">
              <a:lnSpc>
                <a:spcPct val="110000"/>
              </a:lnSpc>
              <a:spcAft>
                <a:spcPts val="600"/>
              </a:spcAft>
              <a:buSzPts val="1800"/>
              <a:buChar char="●"/>
            </a:pPr>
            <a:r>
              <a:rPr lang="en" sz="1400" dirty="0"/>
              <a:t>Pandas</a:t>
            </a:r>
          </a:p>
          <a:p>
            <a:pPr marL="457200" lvl="0" indent="-342900" algn="l" rtl="0">
              <a:lnSpc>
                <a:spcPct val="110000"/>
              </a:lnSpc>
              <a:spcAft>
                <a:spcPts val="600"/>
              </a:spcAft>
              <a:buSzPts val="1800"/>
              <a:buChar char="●"/>
            </a:pPr>
            <a:r>
              <a:rPr lang="en" sz="1400" dirty="0"/>
              <a:t>NumPy</a:t>
            </a:r>
          </a:p>
          <a:p>
            <a:pPr lvl="0">
              <a:lnSpc>
                <a:spcPct val="110000"/>
              </a:lnSpc>
              <a:spcAft>
                <a:spcPts val="600"/>
              </a:spcAft>
            </a:pPr>
            <a:r>
              <a:rPr lang="en-US" sz="1400" dirty="0"/>
              <a:t>Matplotlib: Data visualization</a:t>
            </a:r>
          </a:p>
          <a:p>
            <a:pPr lvl="0">
              <a:lnSpc>
                <a:spcPct val="110000"/>
              </a:lnSpc>
              <a:spcAft>
                <a:spcPts val="600"/>
              </a:spcAft>
            </a:pPr>
            <a:r>
              <a:rPr lang="en-US" sz="1400" dirty="0"/>
              <a:t>seaborn</a:t>
            </a:r>
            <a:endParaRPr sz="1400" dirty="0"/>
          </a:p>
        </p:txBody>
      </p:sp>
      <p:sp>
        <p:nvSpPr>
          <p:cNvPr id="434" name="Google Shape;434;p4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grpSp>
        <p:nvGrpSpPr>
          <p:cNvPr id="435" name="Google Shape;435;p41"/>
          <p:cNvGrpSpPr/>
          <p:nvPr/>
        </p:nvGrpSpPr>
        <p:grpSpPr>
          <a:xfrm rot="2700000">
            <a:off x="7815861" y="3738066"/>
            <a:ext cx="1067690" cy="867892"/>
            <a:chOff x="919500" y="1916075"/>
            <a:chExt cx="1067700" cy="867900"/>
          </a:xfrm>
        </p:grpSpPr>
        <p:sp>
          <p:nvSpPr>
            <p:cNvPr id="436" name="Google Shape;436;p41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/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439" name="Google Shape;439;p41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69A0B292-8F61-FF0A-929B-DAD97EAC1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19D39781-F47D-9823-A555-24811015D2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000" dirty="0"/>
              <a:t>The characteristics and behavioral outcome of the gym members </a:t>
            </a:r>
            <a:endParaRPr sz="2000"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C44F3246-FF8A-708B-9D80-1F93A594C6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3B881C-2767-A3A0-4409-6182B1A95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91" y="3078796"/>
            <a:ext cx="2377116" cy="18621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1A2246-6704-7346-ED40-BE1A0A888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691" y="1052344"/>
            <a:ext cx="4347760" cy="1288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F18D0E6-B67C-D47D-197A-E638FD9297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0115" y="3502818"/>
            <a:ext cx="5576498" cy="15808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8E2838-D2F1-277F-0783-385FEA0E38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8752" y="1093338"/>
            <a:ext cx="3982136" cy="198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987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73871374-C271-BEBC-6CC1-B4F121FA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8BCA3CFE-842F-92E9-1133-DD9FF37FB8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b="1" dirty="0">
                <a:latin typeface="Assistant"/>
                <a:ea typeface="Assistant"/>
                <a:cs typeface="Assistant"/>
                <a:sym typeface="Assistant"/>
              </a:rPr>
              <a:t>Membership type and churn </a:t>
            </a:r>
            <a:r>
              <a:rPr lang="en-US" dirty="0"/>
              <a:t>s</a:t>
            </a:r>
            <a:r>
              <a:rPr lang="en-US" b="1" dirty="0">
                <a:latin typeface="Assistant"/>
                <a:ea typeface="Assistant"/>
                <a:cs typeface="Assistant"/>
                <a:sym typeface="Assistant"/>
              </a:rPr>
              <a:t>tatus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BF8CEBDE-9EAB-DA5E-60F3-532C19866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endParaRPr lang="en-US" sz="1600" dirty="0"/>
          </a:p>
          <a:p>
            <a:pPr marL="0" lvl="0" indent="0">
              <a:buNone/>
            </a:pPr>
            <a:endParaRPr lang="en-US" sz="1600" dirty="0"/>
          </a:p>
          <a:p>
            <a:pPr marL="0" lvl="0" indent="0">
              <a:buNone/>
            </a:pPr>
            <a:endParaRPr lang="en-US" sz="1600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7488FC89-7619-0AB8-FCB0-8A36AAC443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F18B3144-FDAC-22A4-6986-E4C56928FC60}"/>
              </a:ext>
            </a:extLst>
          </p:cNvPr>
          <p:cNvGrpSpPr/>
          <p:nvPr/>
        </p:nvGrpSpPr>
        <p:grpSpPr>
          <a:xfrm>
            <a:off x="-56079" y="4800600"/>
            <a:ext cx="410072" cy="410168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6C1D190E-D79F-B868-7024-4B205C429224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622681DA-E87D-899E-8578-67C5D553C798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A4647E37-AC47-D90F-E735-D04219C1DDB6}"/>
              </a:ext>
            </a:extLst>
          </p:cNvPr>
          <p:cNvGrpSpPr/>
          <p:nvPr/>
        </p:nvGrpSpPr>
        <p:grpSpPr>
          <a:xfrm rot="10800000">
            <a:off x="7824975" y="4459962"/>
            <a:ext cx="427586" cy="471802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0D4DAB5C-2DB9-111C-3501-3129EDE22AC9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F0D53ADC-3F07-B74C-3C50-1104E1A8593C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6A901A9-E69E-C2CB-3466-CBC7B0855BF5}"/>
              </a:ext>
            </a:extLst>
          </p:cNvPr>
          <p:cNvSpPr txBox="1"/>
          <p:nvPr/>
        </p:nvSpPr>
        <p:spPr>
          <a:xfrm>
            <a:off x="353992" y="909587"/>
            <a:ext cx="4102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Monthly customer have the highest churn rate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251A04-CB98-D117-B2A9-89E7901E41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5" r="1704"/>
          <a:stretch>
            <a:fillRect/>
          </a:stretch>
        </p:blipFill>
        <p:spPr>
          <a:xfrm>
            <a:off x="1042622" y="1281793"/>
            <a:ext cx="5965371" cy="386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601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6E70F83D-A1B5-7407-C42F-3F19BA5BC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9E7B78-8CF1-D4F7-3C99-818765123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br>
              <a:rPr lang="en-US" sz="2000" dirty="0"/>
            </a:br>
            <a:r>
              <a:rPr lang="en-US" sz="2000" dirty="0"/>
              <a:t>Confusion Matrices (Top 3 Models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E4A964-A845-B07F-1248-2177BCE70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98" y="1355021"/>
            <a:ext cx="9021603" cy="2433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351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A7C46DA7-78FD-6408-34B2-0DF18A62D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E99D350-BB3B-3CA5-D285-B8F1977E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Confusion Matrices of Top 3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635EC7-2E34-396A-C103-BCF852AA9DD1}"/>
              </a:ext>
            </a:extLst>
          </p:cNvPr>
          <p:cNvSpPr txBox="1"/>
          <p:nvPr/>
        </p:nvSpPr>
        <p:spPr>
          <a:xfrm>
            <a:off x="631371" y="1143001"/>
            <a:ext cx="622662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XGBoost</a:t>
            </a:r>
            <a:r>
              <a:rPr lang="en-US" dirty="0"/>
              <a:t> Optimized makes the most correct predictions (5,757)</a:t>
            </a:r>
          </a:p>
          <a:p>
            <a:endParaRPr lang="en-US" dirty="0"/>
          </a:p>
          <a:p>
            <a:r>
              <a:rPr lang="en-US" dirty="0"/>
              <a:t>Gradient Boosting misses the fewest churners (817)</a:t>
            </a:r>
          </a:p>
          <a:p>
            <a:endParaRPr lang="en-US" dirty="0"/>
          </a:p>
          <a:p>
            <a:r>
              <a:rPr lang="en-US" dirty="0"/>
              <a:t>All models struggle with False Positives (~2,400-2,500)</a:t>
            </a:r>
          </a:p>
          <a:p>
            <a:endParaRPr lang="en-US" dirty="0"/>
          </a:p>
          <a:p>
            <a:r>
              <a:rPr lang="en-US" dirty="0"/>
              <a:t>False Negatives are most costly, because the business loses customers that could have been saved.</a:t>
            </a:r>
          </a:p>
        </p:txBody>
      </p:sp>
    </p:spTree>
    <p:extLst>
      <p:ext uri="{BB962C8B-B14F-4D97-AF65-F5344CB8AC3E}">
        <p14:creationId xmlns:p14="http://schemas.microsoft.com/office/powerpoint/2010/main" val="2026826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B63BA3B3-D2B3-F1DE-80A0-A2A2AA1BD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CA6F167-F215-1132-E6F4-928DF725F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372" y="178228"/>
            <a:ext cx="8147100" cy="572700"/>
          </a:xfrm>
        </p:spPr>
        <p:txBody>
          <a:bodyPr>
            <a:normAutofit/>
          </a:bodyPr>
          <a:lstStyle/>
          <a:p>
            <a:r>
              <a:rPr lang="en-US" sz="2000" dirty="0"/>
              <a:t>ROC Curves  of Top 3 Models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DBADBF-FD18-7442-8C3E-AB910C09E42D}"/>
              </a:ext>
            </a:extLst>
          </p:cNvPr>
          <p:cNvSpPr txBox="1"/>
          <p:nvPr/>
        </p:nvSpPr>
        <p:spPr>
          <a:xfrm>
            <a:off x="685200" y="704115"/>
            <a:ext cx="74799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three models perform similarly, with </a:t>
            </a:r>
            <a:r>
              <a:rPr lang="en-US" dirty="0" err="1"/>
              <a:t>XGBoost</a:t>
            </a:r>
            <a:r>
              <a:rPr lang="en-US" dirty="0"/>
              <a:t> Optimized showing a marginal </a:t>
            </a:r>
            <a:r>
              <a:rPr lang="en-US" dirty="0" err="1"/>
              <a:t>advantagely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BE30C6-E284-4DC5-194D-2141BA1F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114" y="1158956"/>
            <a:ext cx="5403430" cy="3984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6261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>
          <a:extLst>
            <a:ext uri="{FF2B5EF4-FFF2-40B4-BE49-F238E27FC236}">
              <a16:creationId xmlns:a16="http://schemas.microsoft.com/office/drawing/2014/main" id="{75044FD1-ECD6-3840-186D-4C79C900C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5">
            <a:extLst>
              <a:ext uri="{FF2B5EF4-FFF2-40B4-BE49-F238E27FC236}">
                <a16:creationId xmlns:a16="http://schemas.microsoft.com/office/drawing/2014/main" id="{49546FAC-5EAB-1AC0-3C1E-EB0BE4FC6A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dirty="0"/>
              <a:t>What did you learn?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92" name="Google Shape;392;p35">
            <a:extLst>
              <a:ext uri="{FF2B5EF4-FFF2-40B4-BE49-F238E27FC236}">
                <a16:creationId xmlns:a16="http://schemas.microsoft.com/office/drawing/2014/main" id="{AC81107D-02CD-7F92-72E8-82A284E77D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4" name="Google Shape;464;p43">
            <a:extLst>
              <a:ext uri="{FF2B5EF4-FFF2-40B4-BE49-F238E27FC236}">
                <a16:creationId xmlns:a16="http://schemas.microsoft.com/office/drawing/2014/main" id="{0592D4F6-B956-A3B7-1590-F0D2F95171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29530" y="3411635"/>
            <a:ext cx="1084950" cy="11350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61893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C7153C41-7150-A537-BB68-04DB5844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B41E6E7A-9566-3C0D-C103-846471987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rPr lang="en-US" dirty="0"/>
              <a:t>Skills and knowledge gained</a:t>
            </a: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4973AAC9-9E1C-47C7-8E66-F446635546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>
              <a:spcBef>
                <a:spcPts val="1000"/>
              </a:spcBef>
            </a:pPr>
            <a:r>
              <a:rPr lang="en-US" dirty="0"/>
              <a:t>Data cleaning: Cleaning and standardizing messy dataset</a:t>
            </a:r>
          </a:p>
          <a:p>
            <a:pPr lvl="0">
              <a:spcBef>
                <a:spcPts val="1000"/>
              </a:spcBef>
            </a:pPr>
            <a:r>
              <a:rPr lang="en-US" dirty="0"/>
              <a:t>Data visualization &amp; reporting</a:t>
            </a:r>
          </a:p>
          <a:p>
            <a:pPr>
              <a:spcBef>
                <a:spcPts val="1000"/>
              </a:spcBef>
            </a:pPr>
            <a:r>
              <a:rPr lang="en-US" dirty="0"/>
              <a:t>Feature engineering: Creating new features </a:t>
            </a:r>
          </a:p>
          <a:p>
            <a:pPr lvl="0">
              <a:spcBef>
                <a:spcPts val="1000"/>
              </a:spcBef>
            </a:pPr>
            <a:r>
              <a:rPr lang="en-US" dirty="0"/>
              <a:t>Model selection and  Hyperparameter tuning</a:t>
            </a:r>
          </a:p>
          <a:p>
            <a:pPr lvl="0">
              <a:spcBef>
                <a:spcPts val="1000"/>
              </a:spcBef>
            </a:pPr>
            <a:r>
              <a:rPr lang="en-US" dirty="0"/>
              <a:t>Problem-solving and critical thinking</a:t>
            </a:r>
          </a:p>
          <a:p>
            <a:pPr marL="114300" lvl="0" indent="0">
              <a:spcBef>
                <a:spcPts val="1000"/>
              </a:spcBef>
              <a:buNone/>
            </a:pPr>
            <a:endParaRPr lang="en-US" dirty="0"/>
          </a:p>
          <a:p>
            <a:pPr marL="114300" lvl="0" indent="0">
              <a:spcBef>
                <a:spcPts val="1000"/>
              </a:spcBef>
              <a:buNone/>
            </a:pPr>
            <a:endParaRPr lang="en-US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D4940B06-9554-0D6F-ACD3-F4F34C0815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B9A39304-2434-C4C9-918E-C940322F5D0E}"/>
              </a:ext>
            </a:extLst>
          </p:cNvPr>
          <p:cNvGrpSpPr/>
          <p:nvPr/>
        </p:nvGrpSpPr>
        <p:grpSpPr>
          <a:xfrm>
            <a:off x="-47557" y="4570800"/>
            <a:ext cx="544862" cy="572700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6580E1BA-68B6-FE22-1342-54E4694B22EC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EF79EA75-5CBA-818A-D991-B9F84D711BCD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E7153FCD-03FF-EE5E-26AE-4DD8B49386F4}"/>
              </a:ext>
            </a:extLst>
          </p:cNvPr>
          <p:cNvGrpSpPr/>
          <p:nvPr/>
        </p:nvGrpSpPr>
        <p:grpSpPr>
          <a:xfrm rot="10800000">
            <a:off x="7557850" y="1607810"/>
            <a:ext cx="1104178" cy="1104176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045E8D53-0691-A79E-E552-737D825C5C23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058D7BF6-6014-62E2-0738-F60868E0A384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04105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>
          <a:extLst>
            <a:ext uri="{FF2B5EF4-FFF2-40B4-BE49-F238E27FC236}">
              <a16:creationId xmlns:a16="http://schemas.microsoft.com/office/drawing/2014/main" id="{5397FB58-2200-CBFE-1ACA-AD3949F15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5">
            <a:extLst>
              <a:ext uri="{FF2B5EF4-FFF2-40B4-BE49-F238E27FC236}">
                <a16:creationId xmlns:a16="http://schemas.microsoft.com/office/drawing/2014/main" id="{A81CF36E-190F-4FD6-4CC5-21CBF9F1F9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dirty="0"/>
              <a:t>What are the next steps?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92" name="Google Shape;392;p35">
            <a:extLst>
              <a:ext uri="{FF2B5EF4-FFF2-40B4-BE49-F238E27FC236}">
                <a16:creationId xmlns:a16="http://schemas.microsoft.com/office/drawing/2014/main" id="{481A2338-C72D-3DB1-04B7-763016208F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651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Next steps</a:t>
            </a:r>
            <a:endParaRPr dirty="0"/>
          </a:p>
        </p:txBody>
      </p:sp>
      <p:sp>
        <p:nvSpPr>
          <p:cNvPr id="459" name="Google Shape;459;p43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spcBef>
                <a:spcPts val="1000"/>
              </a:spcBef>
            </a:pPr>
            <a:r>
              <a:rPr lang="en-US" dirty="0"/>
              <a:t>Enhance my project with further machine learning methods (Test different algorithms and deployment)</a:t>
            </a:r>
          </a:p>
          <a:p>
            <a:pPr>
              <a:spcBef>
                <a:spcPts val="1000"/>
              </a:spcBef>
            </a:pPr>
            <a:r>
              <a:rPr lang="en-US" dirty="0"/>
              <a:t>Practice more machine learning projects on Kaggle</a:t>
            </a:r>
          </a:p>
        </p:txBody>
      </p:sp>
      <p:sp>
        <p:nvSpPr>
          <p:cNvPr id="460" name="Google Shape;460;p4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grpSp>
        <p:nvGrpSpPr>
          <p:cNvPr id="461" name="Google Shape;461;p43"/>
          <p:cNvGrpSpPr/>
          <p:nvPr/>
        </p:nvGrpSpPr>
        <p:grpSpPr>
          <a:xfrm rot="2699785">
            <a:off x="482122" y="4029609"/>
            <a:ext cx="1208946" cy="982653"/>
            <a:chOff x="2318413" y="2452450"/>
            <a:chExt cx="1067700" cy="867900"/>
          </a:xfrm>
        </p:grpSpPr>
        <p:sp>
          <p:nvSpPr>
            <p:cNvPr id="462" name="Google Shape;462;p43"/>
            <p:cNvSpPr/>
            <p:nvPr/>
          </p:nvSpPr>
          <p:spPr>
            <a:xfrm>
              <a:off x="2318413" y="25286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43"/>
            <p:cNvSpPr/>
            <p:nvPr/>
          </p:nvSpPr>
          <p:spPr>
            <a:xfrm>
              <a:off x="2470813" y="24524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64" name="Google Shape;46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370" y="1972579"/>
            <a:ext cx="1084950" cy="1135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6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656" name="Google Shape;656;p6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5173</TotalTime>
  <Words>271</Words>
  <Application>Microsoft Macintosh PowerPoint</Application>
  <PresentationFormat>On-screen Show (16:9)</PresentationFormat>
  <Paragraphs>60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Assistant</vt:lpstr>
      <vt:lpstr>Arial</vt:lpstr>
      <vt:lpstr>Simple Light</vt:lpstr>
      <vt:lpstr>Machine Learning project presentation</vt:lpstr>
      <vt:lpstr>What inspired you to choose this project?</vt:lpstr>
      <vt:lpstr>Reasons why I choose this topic </vt:lpstr>
      <vt:lpstr>What did you do?</vt:lpstr>
      <vt:lpstr>Development tools and libraries </vt:lpstr>
      <vt:lpstr>The characteristics and behavioral outcome of the gym members </vt:lpstr>
      <vt:lpstr>Membership type and churn status</vt:lpstr>
      <vt:lpstr> Confusion Matrices (Top 3 Models  </vt:lpstr>
      <vt:lpstr>Confusion Matrices of Top 3 Models</vt:lpstr>
      <vt:lpstr>ROC Curves  of Top 3 Models</vt:lpstr>
      <vt:lpstr>What did you learn?</vt:lpstr>
      <vt:lpstr>Skills and knowledge gained</vt:lpstr>
      <vt:lpstr>What are the next steps?</vt:lpstr>
      <vt:lpstr>Next steps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Nosayaba Godswill Osayi</cp:lastModifiedBy>
  <cp:revision>21</cp:revision>
  <dcterms:modified xsi:type="dcterms:W3CDTF">2026-06-01T01:53:30Z</dcterms:modified>
</cp:coreProperties>
</file>